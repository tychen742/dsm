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the first of the pandas lectures. By the end of class, students should be able to create a Series, explain what its index does, and pull values out of it by label, by position, and by condition.
Timing: about 50 minutes. Two quick checks and one practice exercise are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Tell students these five goals match the five parts of today's lecture and the exercises in section 4.1 of the book.
Point out that the last goal, combining Series, is where most beginners get surprised, so it is worth staying alert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what students know: spreadsheets. In a spreadsheet you find a value by its row name, not by counting rows. Pandas brings that idea into Python.
Ask: "If I give you the number 95, what does it mean?" Nothing without a label. "South region sales: 95" means something.
Transition: let's look at what a Series actually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The index holds the labels North, South, West. The values hold the numbers. The dtype tells you what kind of values they are, here 64-bit integers.
Stress that the index is not just decoration. Every operation in pandas uses it: selecting, sorting, and combining.
The bottom line of the diagram previews two ways to get the same value: by label with loc, and by position with iloc. We come back to that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type this in a notebook rather than reading it. Students learn more from watching it run.
Point at each line of the output: labels on the left, values on the right, dtype at the bottom.
Ask: "What happens if I leave out the index argument?" Then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an index, pandas uses positions as labels. That is fine for quick work, but it throws away the main benefit of a Series.
Common student mistake: confusing these default labels with positions later on. Mention it now; we will see why it matters when we cover loc and iloc.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 most people use with real data, because the labels and values arrive together.
Connect to Python: students already know dictionaries map keys to values. A Series built from a dictionary keeps exactly that mapping, and adds pandas operations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then poll with a show of hands or your classroom poll tool.
Answer: B. The dictionary keys become the labels Q1 and Q2.
Why the others are wrong: A has the default index 0 and 1. C puts the labels in as the data and the numbers as the index, the reverse of what we want. D is not a valid way to build this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stores each Series as one type. If you mix integers and a decimal, everything becomes a float. If you mix in text, you get object, which is pandas' catch-all.
Why managers should care: a sales column read from a messy spreadsheet often arrives as object because one cell says "n/a". Then sum and mean do not work the way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numbers arrived as text, which happens with CSV files all the time. astype converts the whole Series in one step.
Ask: "What would counts.sum() return before the conversion?" Answer: the strings joined together, '102030'. That is a good moment to show it live, because students remember the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value, two routes. loc uses the label you see in the index. iloc uses the position, counting from zero.
Rule of thumb for students: use loc when your labels mean something, which is most of the time with business data. Use iloc when you truly mean "the first one" or "the last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source of bugs with Series. A label slice includes its end label. A position slice stops before its end position, just like Python lists.
Both examples return the same two rows here, but for different reasons. Ask a student to explain why iloc[0:2] does not include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indexing is how analysts ask questions of data: which regions beat 100? Which products are below target?
Show the inner expression on its own first, sales &gt; 100, so students see the True and False values. Then show that wrapping it in brackets keeps the True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 seconds.
Answer: A. iloc excludes the end position, so 0:1 returns just position 0, which is North.
If many students choose B, they are applying the loc rule. Revisit the previous slide for one minute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matches rows by label, not by position. North adds to North and South adds to South. East and West appear in only one quarter, so pandas cannot add them and returns NaN, meaning missing.
Point out that the dtype changed to float64, because NaN is a float. This catches people off guard in reports.
Ask: "Is NaN the right answer for West?" It depends on the business question, which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fill_value=0 tells pandas to treat a missing quarter as zero sales. That is right if the region truly sold nothing. It is wrong if the region simply had not reported yet.
This is a good discussion point for a management audience: the code is easy, the judgment is the hard part. Chapter 4's missing data section goes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 minutes in pairs. This is the indexing exercise from section 4.1 of the book, so they can check the solution there afterward.
Walk the room and look for two common mistakes: using iloc with a city name, and forgetting the inner condition in step 3.
Answers: temps.loc['Miami'] is 85. temps.iloc[[0, -1]] gives NYC 72 and Denver 77. temps[temps &gt; 75] gives Miami 85, Phoenix 91, Denver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your own words, or ask students to supply each line before you reveal it.
Next class: DataFrames, which are many Series sharing one index. Assign the section 4.1 exercises and the chapter Preview quiz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Think Data Science &amp; Management  ·  4.1 Pandas Series</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Think Data Science &amp; Management  ·  4.1 Pandas Series</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Pandas Series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4.1 · Think Data Science &amp; Management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Today's goals</a:t>
            </a:r>
            <a:endParaRPr lang="en-US" sz="3600" dirty="0"/>
          </a:p>
        </p:txBody>
      </p:sp>
      <p:sp>
        <p:nvSpPr>
          <p:cNvPr id="3" name="Text 1"/>
          <p:cNvSpPr txBox="1"/>
          <p:nvPr/>
        </p:nvSpPr>
        <p:spPr>
          <a:xfrm>
            <a:off x="548640" y="1280160"/>
            <a:ext cx="11094415" cy="2362200"/>
          </a:xfrm>
          <a:prstGeom prst="rect">
            <a:avLst/>
          </a:prstGeom>
          <a:noFill/>
          <a:ln/>
        </p:spPr>
        <p:txBody>
          <a:bodyPr wrap="square" lIns="0" tIns="0" rIns="0" bIns="0" rtlCol="0" anchor="t"/>
          <a:lstStyle/>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Explain what a </a:t>
            </a:r>
            <a:pPr indent="0" marL="0">
              <a:buNone/>
            </a:pPr>
            <a:r>
              <a:rPr lang="en-US" sz="2400" b="1" dirty="0">
                <a:solidFill>
                  <a:srgbClr val="1F2328"/>
                </a:solidFill>
                <a:latin typeface="Calibri" pitchFamily="34" charset="0"/>
                <a:ea typeface="Calibri" pitchFamily="34" charset="-122"/>
                <a:cs typeface="Calibri" pitchFamily="34" charset="-120"/>
              </a:rPr>
              <a:t>Series</a:t>
            </a:r>
            <a:pPr indent="0" marL="0">
              <a:buNone/>
            </a:pPr>
            <a:r>
              <a:rPr lang="en-US" sz="2400" dirty="0">
                <a:solidFill>
                  <a:srgbClr val="1F2328"/>
                </a:solidFill>
                <a:latin typeface="Calibri" pitchFamily="34" charset="0"/>
                <a:ea typeface="Calibri" pitchFamily="34" charset="-122"/>
                <a:cs typeface="Calibri" pitchFamily="34" charset="-120"/>
              </a:rPr>
              <a:t> is and why it has an </a:t>
            </a:r>
            <a:pPr indent="0" marL="0">
              <a:buNone/>
            </a:pPr>
            <a:r>
              <a:rPr lang="en-US" sz="2400" b="1" dirty="0">
                <a:solidFill>
                  <a:srgbClr val="1F2328"/>
                </a:solidFill>
                <a:latin typeface="Calibri" pitchFamily="34" charset="0"/>
                <a:ea typeface="Calibri" pitchFamily="34" charset="-122"/>
                <a:cs typeface="Calibri" pitchFamily="34" charset="-120"/>
              </a:rPr>
              <a:t>index</a:t>
            </a:r>
            <a:pPr indent="0" marL="0">
              <a:spcAft>
                <a:spcPts val="800"/>
              </a:spcAft>
              <a:buNone/>
            </a:pP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a Series from a list or a dictionary</a:t>
            </a: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Recognize how pandas picks a </a:t>
            </a:r>
            <a:pPr indent="0" marL="0">
              <a:buNone/>
            </a:pPr>
            <a:r>
              <a:rPr lang="en-US" sz="2400" b="1" dirty="0">
                <a:solidFill>
                  <a:srgbClr val="1F2328"/>
                </a:solidFill>
                <a:latin typeface="Calibri" pitchFamily="34" charset="0"/>
                <a:ea typeface="Calibri" pitchFamily="34" charset="-122"/>
                <a:cs typeface="Calibri" pitchFamily="34" charset="-120"/>
              </a:rPr>
              <a:t>dtype</a:t>
            </a:r>
            <a:pPr indent="0" marL="0">
              <a:spcAft>
                <a:spcPts val="800"/>
              </a:spcAft>
              <a:buNone/>
            </a:pP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Select values with </a:t>
            </a:r>
            <a:pPr indent="0" marL="0">
              <a:buNone/>
            </a:pPr>
            <a:r>
              <a:rPr lang="en-US" sz="2400" b="1" dirty="0">
                <a:solidFill>
                  <a:srgbClr val="8A1C3C"/>
                </a:solidFill>
                <a:latin typeface="Consolas" pitchFamily="34" charset="0"/>
                <a:ea typeface="Consolas" pitchFamily="34" charset="-122"/>
                <a:cs typeface="Consolas" pitchFamily="34" charset="-120"/>
              </a:rPr>
              <a:t>.loc</a:t>
            </a:r>
            <a:pPr indent="0" marL="0">
              <a:buNone/>
            </a:pPr>
            <a:r>
              <a:rPr lang="en-US" sz="2400" dirty="0">
                <a:solidFill>
                  <a:srgbClr val="1F2328"/>
                </a:solidFill>
                <a:latin typeface="Calibri" pitchFamily="34" charset="0"/>
                <a:ea typeface="Calibri" pitchFamily="34" charset="-122"/>
                <a:cs typeface="Calibri" pitchFamily="34" charset="-120"/>
              </a:rPr>
              <a:t>, </a:t>
            </a:r>
            <a:pPr indent="0" marL="0">
              <a:buNone/>
            </a:pPr>
            <a:r>
              <a:rPr lang="en-US" sz="2400" b="1" dirty="0">
                <a:solidFill>
                  <a:srgbClr val="8A1C3C"/>
                </a:solidFill>
                <a:latin typeface="Consolas" pitchFamily="34" charset="0"/>
                <a:ea typeface="Consolas" pitchFamily="34" charset="-122"/>
                <a:cs typeface="Consolas" pitchFamily="34" charset="-120"/>
              </a:rPr>
              <a:t>.iloc</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and conditions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what happens when two Series are combined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Why labels matter</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Business data is rarely "item number 0, 1, 2."</a:t>
            </a: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Sales are by </a:t>
            </a:r>
            <a:pPr indent="0" marL="0">
              <a:buNone/>
            </a:pPr>
            <a:r>
              <a:rPr lang="en-US" sz="2400" b="1" dirty="0">
                <a:solidFill>
                  <a:srgbClr val="1F2328"/>
                </a:solidFill>
                <a:latin typeface="Calibri" pitchFamily="34" charset="0"/>
                <a:ea typeface="Calibri" pitchFamily="34" charset="-122"/>
                <a:cs typeface="Calibri" pitchFamily="34" charset="-120"/>
              </a:rPr>
              <a:t>region</a:t>
            </a:r>
            <a:pPr indent="0" marL="0">
              <a:buNone/>
            </a:pPr>
            <a:r>
              <a:rPr lang="en-US" sz="2400" dirty="0">
                <a:solidFill>
                  <a:srgbClr val="1F2328"/>
                </a:solidFill>
                <a:latin typeface="Calibri" pitchFamily="34" charset="0"/>
                <a:ea typeface="Calibri" pitchFamily="34" charset="-122"/>
                <a:cs typeface="Calibri" pitchFamily="34" charset="-120"/>
              </a:rPr>
              <a:t>, </a:t>
            </a:r>
            <a:pPr indent="0" marL="0">
              <a:buNone/>
            </a:pPr>
            <a:r>
              <a:rPr lang="en-US" sz="2400" b="1" dirty="0">
                <a:solidFill>
                  <a:srgbClr val="1F2328"/>
                </a:solidFill>
                <a:latin typeface="Calibri" pitchFamily="34" charset="0"/>
                <a:ea typeface="Calibri" pitchFamily="34" charset="-122"/>
                <a:cs typeface="Calibri" pitchFamily="34" charset="-120"/>
              </a:rPr>
              <a:t>product</a:t>
            </a:r>
            <a:pPr indent="0" marL="0">
              <a:buNone/>
            </a:pPr>
            <a:r>
              <a:rPr lang="en-US" sz="2400" dirty="0">
                <a:solidFill>
                  <a:srgbClr val="1F2328"/>
                </a:solidFill>
                <a:latin typeface="Calibri" pitchFamily="34" charset="0"/>
                <a:ea typeface="Calibri" pitchFamily="34" charset="-122"/>
                <a:cs typeface="Calibri" pitchFamily="34" charset="-120"/>
              </a:rPr>
              <a:t>, or </a:t>
            </a:r>
            <a:pPr indent="0" marL="0">
              <a:buNone/>
            </a:pPr>
            <a:r>
              <a:rPr lang="en-US" sz="2400" b="1" dirty="0">
                <a:solidFill>
                  <a:srgbClr val="1F2328"/>
                </a:solidFill>
                <a:latin typeface="Calibri" pitchFamily="34" charset="0"/>
                <a:ea typeface="Calibri" pitchFamily="34" charset="-122"/>
                <a:cs typeface="Calibri" pitchFamily="34" charset="-120"/>
              </a:rPr>
              <a:t>month</a:t>
            </a:r>
            <a:pPr indent="0" marL="0">
              <a:spcAft>
                <a:spcPts val="800"/>
              </a:spcAft>
              <a:buNone/>
            </a:pP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A label says </a:t>
            </a:r>
            <a:pPr indent="0" marL="0">
              <a:buNone/>
            </a:pPr>
            <a:r>
              <a:rPr lang="en-US" sz="2400" i="1" dirty="0">
                <a:solidFill>
                  <a:srgbClr val="1F2328"/>
                </a:solidFill>
                <a:latin typeface="Calibri" pitchFamily="34" charset="0"/>
                <a:ea typeface="Calibri" pitchFamily="34" charset="-122"/>
                <a:cs typeface="Calibri" pitchFamily="34" charset="-120"/>
              </a:rPr>
              <a:t>what</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a number means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Labels let pandas line up data from different sources</a:t>
            </a:r>
            <a:endParaRPr lang="en-US" sz="2400" dirty="0"/>
          </a:p>
        </p:txBody>
      </p:sp>
      <p:sp>
        <p:nvSpPr>
          <p:cNvPr id="4" name="Text 2"/>
          <p:cNvSpPr txBox="1"/>
          <p:nvPr/>
        </p:nvSpPr>
        <p:spPr>
          <a:xfrm>
            <a:off x="548640" y="3435096"/>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A spreadsheet column with row names: that is a Series.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Anatomy of a Series</a:t>
            </a:r>
            <a:endParaRPr lang="en-US" sz="3600" dirty="0"/>
          </a:p>
        </p:txBody>
      </p:sp>
      <p:sp>
        <p:nvSpPr>
          <p:cNvPr id="3" name="Text 1"/>
          <p:cNvSpPr txBox="1"/>
          <p:nvPr/>
        </p:nvSpPr>
        <p:spPr>
          <a:xfrm>
            <a:off x="548640" y="1280160"/>
            <a:ext cx="6101928" cy="1453896"/>
          </a:xfrm>
          <a:prstGeom prst="rect">
            <a:avLst/>
          </a:prstGeom>
          <a:noFill/>
          <a:ln/>
        </p:spPr>
        <p:txBody>
          <a:bodyPr wrap="square" lIns="0" tIns="0" rIns="0" bIns="0" rtlCol="0" anchor="t"/>
          <a:lstStyle/>
          <a:p>
            <a:pPr marL="254000" indent="-254000">
              <a:buSzPct val="100000"/>
              <a:buChar char="•"/>
            </a:pPr>
            <a:pPr indent="0" marL="0">
              <a:buNone/>
            </a:pPr>
            <a:r>
              <a:rPr lang="en-US" sz="2400" b="1" dirty="0">
                <a:solidFill>
                  <a:srgbClr val="1F2328"/>
                </a:solidFill>
                <a:latin typeface="Calibri" pitchFamily="34" charset="0"/>
                <a:ea typeface="Calibri" pitchFamily="34" charset="-122"/>
                <a:cs typeface="Calibri" pitchFamily="34" charset="-120"/>
              </a:rPr>
              <a:t>Index</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the labels</a:t>
            </a:r>
            <a:endParaRPr lang="en-US" sz="2400" dirty="0"/>
          </a:p>
          <a:p>
            <a:pPr marL="254000" indent="-254000">
              <a:buSzPct val="100000"/>
              <a:buChar char="•"/>
            </a:pPr>
            <a:pPr indent="0" marL="0">
              <a:buNone/>
            </a:pPr>
            <a:r>
              <a:rPr lang="en-US" sz="2400" b="1" dirty="0">
                <a:solidFill>
                  <a:srgbClr val="1F2328"/>
                </a:solidFill>
                <a:latin typeface="Calibri" pitchFamily="34" charset="0"/>
                <a:ea typeface="Calibri" pitchFamily="34" charset="-122"/>
                <a:cs typeface="Calibri" pitchFamily="34" charset="-120"/>
              </a:rPr>
              <a:t>Values</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the data</a:t>
            </a:r>
            <a:endParaRPr lang="en-US" sz="2400" dirty="0"/>
          </a:p>
          <a:p>
            <a:pPr marL="254000" indent="-254000">
              <a:buSzPct val="100000"/>
              <a:buChar char="•"/>
            </a:pPr>
            <a:pPr indent="0" marL="0">
              <a:buNone/>
            </a:pPr>
            <a:r>
              <a:rPr lang="en-US" sz="2400" b="1" dirty="0">
                <a:solidFill>
                  <a:srgbClr val="1F2328"/>
                </a:solidFill>
                <a:latin typeface="Calibri" pitchFamily="34" charset="0"/>
                <a:ea typeface="Calibri" pitchFamily="34" charset="-122"/>
                <a:cs typeface="Calibri" pitchFamily="34" charset="-120"/>
              </a:rPr>
              <a:t>dtype</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the type of every value</a:t>
            </a:r>
            <a:endParaRPr lang="en-US" sz="2400" dirty="0"/>
          </a:p>
        </p:txBody>
      </p:sp>
      <p:pic>
        <p:nvPicPr>
          <p:cNvPr id="4" name="Image 0" descr="Index labels on the left point to values on the right, with the dtype below">    </p:cNvPr>
          <p:cNvPicPr>
            <a:picLocks noChangeAspect="1"/>
          </p:cNvPicPr>
          <p:nvPr/>
        </p:nvPicPr>
        <p:blipFill>
          <a:blip r:embed="rId1"/>
          <a:stretch>
            <a:fillRect/>
          </a:stretch>
        </p:blipFill>
        <p:spPr>
          <a:xfrm>
            <a:off x="7016328" y="1280160"/>
            <a:ext cx="4626727" cy="2891921"/>
          </a:xfrm>
          <a:prstGeom prst="rect">
            <a:avLst/>
          </a:prstGeom>
        </p:spPr>
      </p:pic>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Create a Series from a list</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import pandas as pd</a:t>
            </a:r>
            <a:endParaRPr lang="en-US" sz="1800" dirty="0"/>
          </a:p>
          <a:p>
            <a:pPr indent="0" marL="0">
              <a:buNone/>
            </a:pP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sales = pd.Series([120, 95, 143],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index=['North', 'South', 'West'])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print(sales)</a:t>
            </a:r>
            <a:endParaRPr lang="en-US" sz="1800" dirty="0"/>
          </a:p>
        </p:txBody>
      </p:sp>
      <p:sp>
        <p:nvSpPr>
          <p:cNvPr id="4" name="Text 2"/>
          <p:cNvSpPr txBox="1"/>
          <p:nvPr/>
        </p:nvSpPr>
        <p:spPr>
          <a:xfrm>
            <a:off x="548640" y="316611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North    120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South     95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West     143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No index? Pandas numbers the rows</a:t>
            </a:r>
            <a:endParaRPr lang="en-US" sz="3600" dirty="0"/>
          </a:p>
        </p:txBody>
      </p:sp>
      <p:sp>
        <p:nvSpPr>
          <p:cNvPr id="3" name="Text 1"/>
          <p:cNvSpPr txBox="1"/>
          <p:nvPr/>
        </p:nvSpPr>
        <p:spPr>
          <a:xfrm>
            <a:off x="548640" y="1280160"/>
            <a:ext cx="11094415"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pd.Series([10, 20, 30])</a:t>
            </a:r>
            <a:endParaRPr lang="en-US" sz="1800" dirty="0"/>
          </a:p>
        </p:txBody>
      </p:sp>
      <p:sp>
        <p:nvSpPr>
          <p:cNvPr id="4" name="Text 2"/>
          <p:cNvSpPr txBox="1"/>
          <p:nvPr/>
        </p:nvSpPr>
        <p:spPr>
          <a:xfrm>
            <a:off x="548640" y="202311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0    10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1    20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2    30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5" name="Text 3"/>
          <p:cNvSpPr txBox="1"/>
          <p:nvPr/>
        </p:nvSpPr>
        <p:spPr>
          <a:xfrm>
            <a:off x="548640" y="362331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The default index is 0, 1, 2. It works, but it carries no meaning.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Create a Series from a dictionary</a:t>
            </a:r>
            <a:endParaRPr lang="en-US" sz="3600" dirty="0"/>
          </a:p>
        </p:txBody>
      </p:sp>
      <p:sp>
        <p:nvSpPr>
          <p:cNvPr id="3" name="Text 1"/>
          <p:cNvSpPr txBox="1"/>
          <p:nvPr/>
        </p:nvSpPr>
        <p:spPr>
          <a:xfrm>
            <a:off x="548640" y="1280160"/>
            <a:ext cx="11094415"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 = pd.Series({'North': 120, 'South': 95, 'West': 143})</a:t>
            </a:r>
            <a:endParaRPr lang="en-US" sz="1800" dirty="0"/>
          </a:p>
        </p:txBody>
      </p:sp>
      <p:sp>
        <p:nvSpPr>
          <p:cNvPr id="4" name="Text 2"/>
          <p:cNvSpPr txBox="1"/>
          <p:nvPr/>
        </p:nvSpPr>
        <p:spPr>
          <a:xfrm>
            <a:off x="548640" y="2023110"/>
            <a:ext cx="11094415" cy="1453896"/>
          </a:xfrm>
          <a:prstGeom prst="rect">
            <a:avLst/>
          </a:prstGeom>
          <a:noFill/>
          <a:ln/>
        </p:spPr>
        <p:txBody>
          <a:bodyPr wrap="square" lIns="0" tIns="0" rIns="0" bIns="0" rtlCol="0" anchor="t"/>
          <a:lstStyle/>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Dictionary </a:t>
            </a:r>
            <a:pPr indent="0" marL="0">
              <a:buNone/>
            </a:pPr>
            <a:r>
              <a:rPr lang="en-US" sz="2400" b="1" dirty="0">
                <a:solidFill>
                  <a:srgbClr val="1F2328"/>
                </a:solidFill>
                <a:latin typeface="Calibri" pitchFamily="34" charset="0"/>
                <a:ea typeface="Calibri" pitchFamily="34" charset="-122"/>
                <a:cs typeface="Calibri" pitchFamily="34" charset="-120"/>
              </a:rPr>
              <a:t>keys</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become the index</a:t>
            </a: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Dictionary </a:t>
            </a:r>
            <a:pPr indent="0" marL="0">
              <a:buNone/>
            </a:pPr>
            <a:r>
              <a:rPr lang="en-US" sz="2400" b="1" dirty="0">
                <a:solidFill>
                  <a:srgbClr val="1F2328"/>
                </a:solidFill>
                <a:latin typeface="Calibri" pitchFamily="34" charset="0"/>
                <a:ea typeface="Calibri" pitchFamily="34" charset="-122"/>
                <a:cs typeface="Calibri" pitchFamily="34" charset="-120"/>
              </a:rPr>
              <a:t>values</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become the data</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Same result as the list version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call creates this Series?</a:t>
            </a:r>
            <a:endParaRPr lang="en-US" sz="3600" dirty="0"/>
          </a:p>
        </p:txBody>
      </p:sp>
      <p:sp>
        <p:nvSpPr>
          <p:cNvPr id="3" name="Text 1"/>
          <p:cNvSpPr txBox="1"/>
          <p:nvPr/>
        </p:nvSpPr>
        <p:spPr>
          <a:xfrm>
            <a:off x="548640" y="12801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Q1    40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Q2    55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4" name="Choice A"/>
          <p:cNvSpPr txBox="1"/>
          <p:nvPr/>
        </p:nvSpPr>
        <p:spPr>
          <a:xfrm>
            <a:off x="548640" y="277749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A   </a:t>
            </a:r>
            <a:pPr indent="0" marL="0">
              <a:buNone/>
            </a:pPr>
            <a:r>
              <a:rPr lang="en-US" sz="2200" dirty="0">
                <a:solidFill>
                  <a:srgbClr val="8A1C3C"/>
                </a:solidFill>
                <a:latin typeface="Consolas" pitchFamily="34" charset="0"/>
                <a:ea typeface="Consolas" pitchFamily="34" charset="-122"/>
                <a:cs typeface="Consolas" pitchFamily="34" charset="-120"/>
              </a:rPr>
              <a:t>pd.Series([40, 55])</a:t>
            </a:r>
            <a:endParaRPr lang="en-US" sz="2200" dirty="0"/>
          </a:p>
        </p:txBody>
      </p:sp>
      <p:sp>
        <p:nvSpPr>
          <p:cNvPr id="5" name="Choice B"/>
          <p:cNvSpPr txBox="1"/>
          <p:nvPr/>
        </p:nvSpPr>
        <p:spPr>
          <a:xfrm>
            <a:off x="6233008" y="277749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B   </a:t>
            </a:r>
            <a:pPr indent="0" marL="0">
              <a:buNone/>
            </a:pPr>
            <a:r>
              <a:rPr lang="en-US" sz="2200" dirty="0">
                <a:solidFill>
                  <a:srgbClr val="8A1C3C"/>
                </a:solidFill>
                <a:latin typeface="Consolas" pitchFamily="34" charset="0"/>
                <a:ea typeface="Consolas" pitchFamily="34" charset="-122"/>
                <a:cs typeface="Consolas" pitchFamily="34" charset="-120"/>
              </a:rPr>
              <a:t>pd.Series({'Q1': 40, 'Q2': 55})</a:t>
            </a:r>
            <a:endParaRPr lang="en-US" sz="2200" dirty="0"/>
          </a:p>
        </p:txBody>
      </p:sp>
      <p:sp>
        <p:nvSpPr>
          <p:cNvPr id="6" name="Choice C"/>
          <p:cNvSpPr txBox="1"/>
          <p:nvPr/>
        </p:nvSpPr>
        <p:spPr>
          <a:xfrm>
            <a:off x="548640" y="360045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C   </a:t>
            </a:r>
            <a:pPr indent="0" marL="0">
              <a:buNone/>
            </a:pPr>
            <a:r>
              <a:rPr lang="en-US" sz="2200" dirty="0">
                <a:solidFill>
                  <a:srgbClr val="8A1C3C"/>
                </a:solidFill>
                <a:latin typeface="Consolas" pitchFamily="34" charset="0"/>
                <a:ea typeface="Consolas" pitchFamily="34" charset="-122"/>
                <a:cs typeface="Consolas" pitchFamily="34" charset="-120"/>
              </a:rPr>
              <a:t>pd.Series(['Q1', 'Q2'], [40, 55])</a:t>
            </a:r>
            <a:endParaRPr lang="en-US" sz="2200" dirty="0"/>
          </a:p>
        </p:txBody>
      </p:sp>
      <p:sp>
        <p:nvSpPr>
          <p:cNvPr id="7" name="Choice D"/>
          <p:cNvSpPr txBox="1"/>
          <p:nvPr/>
        </p:nvSpPr>
        <p:spPr>
          <a:xfrm>
            <a:off x="6233008" y="360045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D   </a:t>
            </a:r>
            <a:pPr indent="0" marL="0">
              <a:buNone/>
            </a:pPr>
            <a:r>
              <a:rPr lang="en-US" sz="2200" dirty="0">
                <a:solidFill>
                  <a:srgbClr val="8A1C3C"/>
                </a:solidFill>
                <a:latin typeface="Consolas" pitchFamily="34" charset="0"/>
                <a:ea typeface="Consolas" pitchFamily="34" charset="-122"/>
                <a:cs typeface="Consolas" pitchFamily="34" charset="-120"/>
              </a:rPr>
              <a:t>pd.Series(40, 55)</a:t>
            </a:r>
            <a:endParaRPr lang="en-US" sz="2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dtype: pandas picks one type</a:t>
            </a:r>
            <a:endParaRPr lang="en-US" sz="3600" dirty="0"/>
          </a:p>
        </p:txBody>
      </p:sp>
      <p:sp>
        <p:nvSpPr>
          <p:cNvPr id="3" name="Text 1"/>
          <p:cNvSpPr txBox="1"/>
          <p:nvPr/>
        </p:nvSpPr>
        <p:spPr>
          <a:xfrm>
            <a:off x="548640" y="1280160"/>
            <a:ext cx="11094415" cy="845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pd.Series([1, 2, 3.5]).dtype      # float64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pd.Series([1, 'two', 3.0]).dtype  # object</a:t>
            </a:r>
            <a:endParaRPr lang="en-US" sz="1800" dirty="0"/>
          </a:p>
        </p:txBody>
      </p:sp>
      <p:sp>
        <p:nvSpPr>
          <p:cNvPr id="4" name="Text 2"/>
          <p:cNvSpPr txBox="1"/>
          <p:nvPr/>
        </p:nvSpPr>
        <p:spPr>
          <a:xfrm>
            <a:off x="548640" y="2308860"/>
            <a:ext cx="11094415" cy="1453896"/>
          </a:xfrm>
          <a:prstGeom prst="rect">
            <a:avLst/>
          </a:prstGeom>
          <a:noFill/>
          <a:ln/>
        </p:spPr>
        <p:txBody>
          <a:bodyPr wrap="square" lIns="0" tIns="0" rIns="0" bIns="0" rtlCol="0" anchor="t"/>
          <a:lstStyle/>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Mixed numbers become </a:t>
            </a:r>
            <a:pPr indent="0" marL="0">
              <a:buNone/>
            </a:pPr>
            <a:r>
              <a:rPr lang="en-US" sz="2400" b="1" dirty="0">
                <a:solidFill>
                  <a:srgbClr val="1F2328"/>
                </a:solidFill>
                <a:latin typeface="Calibri" pitchFamily="34" charset="0"/>
                <a:ea typeface="Calibri" pitchFamily="34" charset="-122"/>
                <a:cs typeface="Calibri" pitchFamily="34" charset="-120"/>
              </a:rPr>
              <a:t>float64</a:t>
            </a:r>
            <a:pPr indent="0" marL="0">
              <a:spcAft>
                <a:spcPts val="800"/>
              </a:spcAft>
              <a:buNone/>
            </a:pPr>
            <a:endParaRPr lang="en-US" sz="2400" dirty="0"/>
          </a:p>
          <a:p>
            <a:pPr marL="254000" indent="-254000">
              <a:buSzPct val="100000"/>
              <a:buChar char="•"/>
            </a:pPr>
            <a:r>
              <a:rPr lang="en-US" sz="2400" dirty="0">
                <a:solidFill>
                  <a:srgbClr val="1F2328"/>
                </a:solidFill>
                <a:latin typeface="Calibri" pitchFamily="34" charset="0"/>
                <a:ea typeface="Calibri" pitchFamily="34" charset="-122"/>
                <a:cs typeface="Calibri" pitchFamily="34" charset="-120"/>
              </a:rPr>
              <a:t>Text mixed with numbers becomes </a:t>
            </a:r>
            <a:pPr indent="0" marL="0">
              <a:buNone/>
            </a:pPr>
            <a:r>
              <a:rPr lang="en-US" sz="2400" b="1" dirty="0">
                <a:solidFill>
                  <a:srgbClr val="1F2328"/>
                </a:solidFill>
                <a:latin typeface="Calibri" pitchFamily="34" charset="0"/>
                <a:ea typeface="Calibri" pitchFamily="34" charset="-122"/>
                <a:cs typeface="Calibri" pitchFamily="34" charset="-120"/>
              </a:rPr>
              <a:t>object</a:t>
            </a:r>
            <a:pPr indent="0" marL="0">
              <a:spcAft>
                <a:spcPts val="800"/>
              </a:spcAft>
              <a:buNone/>
            </a:pPr>
            <a:endParaRPr lang="en-US" sz="2400" dirty="0"/>
          </a:p>
          <a:p>
            <a:pPr marL="254000" indent="-254000">
              <a:buSzPct val="100000"/>
              <a:buChar char="•"/>
            </a:pPr>
            <a:r>
              <a:rPr lang="en-US" sz="2400" dirty="0">
                <a:solidFill>
                  <a:srgbClr val="8A1C3C"/>
                </a:solidFill>
                <a:latin typeface="Consolas" pitchFamily="34" charset="0"/>
                <a:ea typeface="Consolas" pitchFamily="34" charset="-122"/>
                <a:cs typeface="Consolas" pitchFamily="34" charset="-120"/>
              </a:rPr>
              <a:t>object</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columns are slow and block math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Fix the type with astype</a:t>
            </a:r>
            <a:endParaRPr lang="en-US" sz="3600" dirty="0"/>
          </a:p>
        </p:txBody>
      </p:sp>
      <p:sp>
        <p:nvSpPr>
          <p:cNvPr id="3" name="Text 1"/>
          <p:cNvSpPr txBox="1"/>
          <p:nvPr/>
        </p:nvSpPr>
        <p:spPr>
          <a:xfrm>
            <a:off x="548640" y="1280160"/>
            <a:ext cx="11094415" cy="845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counts = pd.Series(['10', '20', '30'])   # text, not numbers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counts.astype(int).sum()</a:t>
            </a:r>
            <a:endParaRPr lang="en-US" sz="1800" dirty="0"/>
          </a:p>
        </p:txBody>
      </p:sp>
      <p:sp>
        <p:nvSpPr>
          <p:cNvPr id="4" name="Text 2"/>
          <p:cNvSpPr txBox="1"/>
          <p:nvPr/>
        </p:nvSpPr>
        <p:spPr>
          <a:xfrm>
            <a:off x="548640" y="2308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60</a:t>
            </a:r>
            <a:endParaRPr lang="en-US" sz="1800" dirty="0"/>
          </a:p>
        </p:txBody>
      </p:sp>
      <p:sp>
        <p:nvSpPr>
          <p:cNvPr id="5" name="Text 3"/>
          <p:cNvSpPr txBox="1"/>
          <p:nvPr/>
        </p:nvSpPr>
        <p:spPr>
          <a:xfrm>
            <a:off x="548640" y="305181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Check </a:t>
            </a:r>
            <a:pPr indent="0" marL="0">
              <a:buNone/>
            </a:pPr>
            <a:r>
              <a:rPr lang="en-US" sz="2400" dirty="0">
                <a:solidFill>
                  <a:srgbClr val="8A1C3C"/>
                </a:solidFill>
                <a:latin typeface="Consolas" pitchFamily="34" charset="0"/>
                <a:ea typeface="Consolas" pitchFamily="34" charset="-122"/>
                <a:cs typeface="Consolas" pitchFamily="34" charset="-120"/>
              </a:rPr>
              <a:t>dtype</a:t>
            </a:r>
            <a:pPr indent="0" marL="0">
              <a:buNone/>
            </a:pPr>
            <a:r>
              <a:rPr lang="en-US" sz="2400" dirty="0">
                <a:solidFill>
                  <a:srgbClr val="1F2328"/>
                </a:solidFill>
                <a:latin typeface="Calibri" pitchFamily="34" charset="0"/>
                <a:ea typeface="Calibri" pitchFamily="34" charset="-122"/>
                <a:cs typeface="Calibri" pitchFamily="34" charset="-120"/>
              </a:rPr>
              <a:t> first whenever math gives a strange answer.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Select by label or by position</a:t>
            </a:r>
            <a:endParaRPr lang="en-US" sz="3600" dirty="0"/>
          </a:p>
        </p:txBody>
      </p:sp>
      <p:sp>
        <p:nvSpPr>
          <p:cNvPr id="3" name="Text 1"/>
          <p:cNvSpPr txBox="1"/>
          <p:nvPr/>
        </p:nvSpPr>
        <p:spPr>
          <a:xfrm>
            <a:off x="548640" y="1280160"/>
            <a:ext cx="5318608" cy="563880"/>
          </a:xfrm>
          <a:prstGeom prst="rect">
            <a:avLst/>
          </a:prstGeom>
          <a:noFill/>
          <a:ln/>
        </p:spPr>
        <p:txBody>
          <a:bodyPr wrap="square" lIns="0" tIns="0" rIns="0" bIns="0" rtlCol="0" anchor="t"/>
          <a:lstStyle/>
          <a:p>
            <a:pPr indent="0" marL="0">
              <a:buNone/>
            </a:pPr>
            <a:r>
              <a:rPr lang="en-US" sz="2400" b="1" dirty="0">
                <a:solidFill>
                  <a:srgbClr val="B8860B"/>
                </a:solidFill>
                <a:latin typeface="Calibri" pitchFamily="34" charset="0"/>
                <a:ea typeface="Calibri" pitchFamily="34" charset="-122"/>
                <a:cs typeface="Calibri" pitchFamily="34" charset="-120"/>
              </a:rPr>
              <a:t>By label: </a:t>
            </a:r>
            <a:pPr indent="0" marL="0">
              <a:spcAft>
                <a:spcPts val="400"/>
              </a:spcAft>
              <a:buNone/>
            </a:pPr>
            <a:r>
              <a:rPr lang="en-US" sz="2400" b="1" dirty="0">
                <a:solidFill>
                  <a:srgbClr val="8A1C3C"/>
                </a:solidFill>
                <a:latin typeface="Consolas" pitchFamily="34" charset="0"/>
                <a:ea typeface="Consolas" pitchFamily="34" charset="-122"/>
                <a:cs typeface="Consolas" pitchFamily="34" charset="-120"/>
              </a:rPr>
              <a:t>.loc</a:t>
            </a:r>
            <a:endParaRPr lang="en-US" sz="2400" dirty="0"/>
          </a:p>
        </p:txBody>
      </p:sp>
      <p:sp>
        <p:nvSpPr>
          <p:cNvPr id="4" name="Text 2"/>
          <p:cNvSpPr txBox="1"/>
          <p:nvPr/>
        </p:nvSpPr>
        <p:spPr>
          <a:xfrm>
            <a:off x="548640" y="2026920"/>
            <a:ext cx="5318608"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sales.loc['South']</a:t>
            </a:r>
            <a:endParaRPr lang="en-US" sz="1800" dirty="0"/>
          </a:p>
        </p:txBody>
      </p:sp>
      <p:sp>
        <p:nvSpPr>
          <p:cNvPr id="5" name="Text 3"/>
          <p:cNvSpPr txBox="1"/>
          <p:nvPr/>
        </p:nvSpPr>
        <p:spPr>
          <a:xfrm>
            <a:off x="548640" y="2769870"/>
            <a:ext cx="5318608"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95</a:t>
            </a:r>
            <a:endParaRPr lang="en-US" sz="1800" dirty="0"/>
          </a:p>
        </p:txBody>
      </p:sp>
      <p:sp>
        <p:nvSpPr>
          <p:cNvPr id="6" name="Text 4"/>
          <p:cNvSpPr txBox="1"/>
          <p:nvPr/>
        </p:nvSpPr>
        <p:spPr>
          <a:xfrm>
            <a:off x="6324448" y="1280160"/>
            <a:ext cx="5318608" cy="563880"/>
          </a:xfrm>
          <a:prstGeom prst="rect">
            <a:avLst/>
          </a:prstGeom>
          <a:noFill/>
          <a:ln/>
        </p:spPr>
        <p:txBody>
          <a:bodyPr wrap="square" lIns="0" tIns="0" rIns="0" bIns="0" rtlCol="0" anchor="t"/>
          <a:lstStyle/>
          <a:p>
            <a:pPr indent="0" marL="0">
              <a:buNone/>
            </a:pPr>
            <a:r>
              <a:rPr lang="en-US" sz="2400" b="1" dirty="0">
                <a:solidFill>
                  <a:srgbClr val="B8860B"/>
                </a:solidFill>
                <a:latin typeface="Calibri" pitchFamily="34" charset="0"/>
                <a:ea typeface="Calibri" pitchFamily="34" charset="-122"/>
                <a:cs typeface="Calibri" pitchFamily="34" charset="-120"/>
              </a:rPr>
              <a:t>By position: </a:t>
            </a:r>
            <a:pPr indent="0" marL="0">
              <a:spcAft>
                <a:spcPts val="400"/>
              </a:spcAft>
              <a:buNone/>
            </a:pPr>
            <a:r>
              <a:rPr lang="en-US" sz="2400" b="1" dirty="0">
                <a:solidFill>
                  <a:srgbClr val="8A1C3C"/>
                </a:solidFill>
                <a:latin typeface="Consolas" pitchFamily="34" charset="0"/>
                <a:ea typeface="Consolas" pitchFamily="34" charset="-122"/>
                <a:cs typeface="Consolas" pitchFamily="34" charset="-120"/>
              </a:rPr>
              <a:t>.iloc</a:t>
            </a:r>
            <a:endParaRPr lang="en-US" sz="2400" dirty="0"/>
          </a:p>
        </p:txBody>
      </p:sp>
      <p:sp>
        <p:nvSpPr>
          <p:cNvPr id="7" name="Text 5"/>
          <p:cNvSpPr txBox="1"/>
          <p:nvPr/>
        </p:nvSpPr>
        <p:spPr>
          <a:xfrm>
            <a:off x="6324448" y="2026920"/>
            <a:ext cx="5318608"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sales.iloc[1]</a:t>
            </a:r>
            <a:endParaRPr lang="en-US" sz="1800" dirty="0"/>
          </a:p>
        </p:txBody>
      </p:sp>
      <p:sp>
        <p:nvSpPr>
          <p:cNvPr id="8" name="Text 6"/>
          <p:cNvSpPr txBox="1"/>
          <p:nvPr/>
        </p:nvSpPr>
        <p:spPr>
          <a:xfrm>
            <a:off x="6324448" y="2769870"/>
            <a:ext cx="5318608"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95</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Slices: the end is different</a:t>
            </a:r>
            <a:endParaRPr lang="en-US" sz="3600" dirty="0"/>
          </a:p>
        </p:txBody>
      </p:sp>
      <p:sp>
        <p:nvSpPr>
          <p:cNvPr id="3" name="Text 1"/>
          <p:cNvSpPr txBox="1"/>
          <p:nvPr/>
        </p:nvSpPr>
        <p:spPr>
          <a:xfrm>
            <a:off x="548640" y="1280160"/>
            <a:ext cx="5318608" cy="563880"/>
          </a:xfrm>
          <a:prstGeom prst="rect">
            <a:avLst/>
          </a:prstGeom>
          <a:noFill/>
          <a:ln/>
        </p:spPr>
        <p:txBody>
          <a:bodyPr wrap="square" lIns="0" tIns="0" rIns="0" bIns="0" rtlCol="0" anchor="t"/>
          <a:lstStyle/>
          <a:p>
            <a:pPr indent="0" marL="0">
              <a:buNone/>
            </a:pPr>
            <a:r>
              <a:rPr lang="en-US" sz="2400" b="1" dirty="0">
                <a:solidFill>
                  <a:srgbClr val="8A1C3C"/>
                </a:solidFill>
                <a:latin typeface="Consolas" pitchFamily="34" charset="0"/>
                <a:ea typeface="Consolas" pitchFamily="34" charset="-122"/>
                <a:cs typeface="Consolas" pitchFamily="34" charset="-120"/>
              </a:rPr>
              <a:t>.loc</a:t>
            </a:r>
            <a:pPr indent="0" marL="0">
              <a:spcAft>
                <a:spcPts val="400"/>
              </a:spcAft>
              <a:buNone/>
            </a:pPr>
            <a:r>
              <a:rPr lang="en-US" sz="2400" b="1" dirty="0">
                <a:solidFill>
                  <a:srgbClr val="B8860B"/>
                </a:solidFill>
                <a:latin typeface="Calibri" pitchFamily="34" charset="0"/>
                <a:ea typeface="Calibri" pitchFamily="34" charset="-122"/>
                <a:cs typeface="Calibri" pitchFamily="34" charset="-120"/>
              </a:rPr>
              <a:t> includes the end</a:t>
            </a:r>
            <a:endParaRPr lang="en-US" sz="2400" dirty="0"/>
          </a:p>
        </p:txBody>
      </p:sp>
      <p:sp>
        <p:nvSpPr>
          <p:cNvPr id="4" name="Text 2"/>
          <p:cNvSpPr txBox="1"/>
          <p:nvPr/>
        </p:nvSpPr>
        <p:spPr>
          <a:xfrm>
            <a:off x="548640" y="2026920"/>
            <a:ext cx="5318608"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sales.loc['North':'South']</a:t>
            </a:r>
            <a:endParaRPr lang="en-US" sz="1800" dirty="0"/>
          </a:p>
        </p:txBody>
      </p:sp>
      <p:sp>
        <p:nvSpPr>
          <p:cNvPr id="5" name="Text 3"/>
          <p:cNvSpPr txBox="1"/>
          <p:nvPr/>
        </p:nvSpPr>
        <p:spPr>
          <a:xfrm>
            <a:off x="548640" y="2769870"/>
            <a:ext cx="5318608"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North    120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South     95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6" name="Text 4"/>
          <p:cNvSpPr txBox="1"/>
          <p:nvPr/>
        </p:nvSpPr>
        <p:spPr>
          <a:xfrm>
            <a:off x="6324448" y="1280160"/>
            <a:ext cx="5318608" cy="563880"/>
          </a:xfrm>
          <a:prstGeom prst="rect">
            <a:avLst/>
          </a:prstGeom>
          <a:noFill/>
          <a:ln/>
        </p:spPr>
        <p:txBody>
          <a:bodyPr wrap="square" lIns="0" tIns="0" rIns="0" bIns="0" rtlCol="0" anchor="t"/>
          <a:lstStyle/>
          <a:p>
            <a:pPr indent="0" marL="0">
              <a:buNone/>
            </a:pPr>
            <a:r>
              <a:rPr lang="en-US" sz="2400" b="1" dirty="0">
                <a:solidFill>
                  <a:srgbClr val="8A1C3C"/>
                </a:solidFill>
                <a:latin typeface="Consolas" pitchFamily="34" charset="0"/>
                <a:ea typeface="Consolas" pitchFamily="34" charset="-122"/>
                <a:cs typeface="Consolas" pitchFamily="34" charset="-120"/>
              </a:rPr>
              <a:t>.iloc</a:t>
            </a:r>
            <a:pPr indent="0" marL="0">
              <a:spcAft>
                <a:spcPts val="400"/>
              </a:spcAft>
              <a:buNone/>
            </a:pPr>
            <a:r>
              <a:rPr lang="en-US" sz="2400" b="1" dirty="0">
                <a:solidFill>
                  <a:srgbClr val="B8860B"/>
                </a:solidFill>
                <a:latin typeface="Calibri" pitchFamily="34" charset="0"/>
                <a:ea typeface="Calibri" pitchFamily="34" charset="-122"/>
                <a:cs typeface="Calibri" pitchFamily="34" charset="-120"/>
              </a:rPr>
              <a:t> excludes the end</a:t>
            </a:r>
            <a:endParaRPr lang="en-US" sz="2400" dirty="0"/>
          </a:p>
        </p:txBody>
      </p:sp>
      <p:sp>
        <p:nvSpPr>
          <p:cNvPr id="7" name="Text 5"/>
          <p:cNvSpPr txBox="1"/>
          <p:nvPr/>
        </p:nvSpPr>
        <p:spPr>
          <a:xfrm>
            <a:off x="6324448" y="2026920"/>
            <a:ext cx="5318608"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sales.iloc[0:2]</a:t>
            </a:r>
            <a:endParaRPr lang="en-US" sz="1800" dirty="0"/>
          </a:p>
        </p:txBody>
      </p:sp>
      <p:sp>
        <p:nvSpPr>
          <p:cNvPr id="8" name="Text 6"/>
          <p:cNvSpPr txBox="1"/>
          <p:nvPr/>
        </p:nvSpPr>
        <p:spPr>
          <a:xfrm>
            <a:off x="6324448" y="2769870"/>
            <a:ext cx="5318608"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North    120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South     95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Filter with a condition</a:t>
            </a:r>
            <a:endParaRPr lang="en-US" sz="3600" dirty="0"/>
          </a:p>
        </p:txBody>
      </p:sp>
      <p:sp>
        <p:nvSpPr>
          <p:cNvPr id="3" name="Text 1"/>
          <p:cNvSpPr txBox="1"/>
          <p:nvPr/>
        </p:nvSpPr>
        <p:spPr>
          <a:xfrm>
            <a:off x="548640" y="1280160"/>
            <a:ext cx="11094415"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sales[sales &gt; 100]</a:t>
            </a:r>
            <a:endParaRPr lang="en-US" sz="1800" dirty="0"/>
          </a:p>
        </p:txBody>
      </p:sp>
      <p:sp>
        <p:nvSpPr>
          <p:cNvPr id="4" name="Text 2"/>
          <p:cNvSpPr txBox="1"/>
          <p:nvPr/>
        </p:nvSpPr>
        <p:spPr>
          <a:xfrm>
            <a:off x="548640" y="2023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North    120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West     143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int64</a:t>
            </a:r>
            <a:endParaRPr lang="en-US" sz="1800" dirty="0"/>
          </a:p>
        </p:txBody>
      </p:sp>
      <p:sp>
        <p:nvSpPr>
          <p:cNvPr id="5" name="Text 3"/>
          <p:cNvSpPr txBox="1"/>
          <p:nvPr/>
        </p:nvSpPr>
        <p:spPr>
          <a:xfrm>
            <a:off x="548640" y="3337560"/>
            <a:ext cx="11094415" cy="999744"/>
          </a:xfrm>
          <a:prstGeom prst="rect">
            <a:avLst/>
          </a:prstGeom>
          <a:noFill/>
          <a:ln/>
        </p:spPr>
        <p:txBody>
          <a:bodyPr wrap="square" lIns="0" tIns="0" rIns="0" bIns="0" rtlCol="0" anchor="t"/>
          <a:lstStyle/>
          <a:p>
            <a:pPr marL="254000" indent="-254000">
              <a:buSzPct val="100000"/>
              <a:buChar char="•"/>
            </a:pPr>
            <a:r>
              <a:rPr lang="en-US" sz="2400" dirty="0">
                <a:solidFill>
                  <a:srgbClr val="8A1C3C"/>
                </a:solidFill>
                <a:latin typeface="Consolas" pitchFamily="34" charset="0"/>
                <a:ea typeface="Consolas" pitchFamily="34" charset="-122"/>
                <a:cs typeface="Consolas" pitchFamily="34" charset="-120"/>
              </a:rPr>
              <a:t>sales &gt; 100</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gives True or False for every row</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Only the True rows are kept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does this return?</a:t>
            </a:r>
            <a:endParaRPr lang="en-US" sz="3600" dirty="0"/>
          </a:p>
        </p:txBody>
      </p:sp>
      <p:sp>
        <p:nvSpPr>
          <p:cNvPr id="3" name="Text 1"/>
          <p:cNvSpPr txBox="1"/>
          <p:nvPr/>
        </p:nvSpPr>
        <p:spPr>
          <a:xfrm>
            <a:off x="548640" y="1280160"/>
            <a:ext cx="11094415"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sales.iloc[0:1]</a:t>
            </a:r>
            <a:endParaRPr lang="en-US" sz="1800" dirty="0"/>
          </a:p>
        </p:txBody>
      </p:sp>
      <p:sp>
        <p:nvSpPr>
          <p:cNvPr id="4" name="Choice A"/>
          <p:cNvSpPr txBox="1"/>
          <p:nvPr/>
        </p:nvSpPr>
        <p:spPr>
          <a:xfrm>
            <a:off x="548640" y="220599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A   </a:t>
            </a:r>
            <a:pPr indent="0" marL="0">
              <a:buNone/>
            </a:pPr>
            <a:r>
              <a:rPr lang="en-US" sz="2200" dirty="0">
                <a:solidFill>
                  <a:srgbClr val="1F2328"/>
                </a:solidFill>
                <a:latin typeface="Calibri" pitchFamily="34" charset="0"/>
                <a:ea typeface="Calibri" pitchFamily="34" charset="-122"/>
                <a:cs typeface="Calibri" pitchFamily="34" charset="-120"/>
              </a:rPr>
              <a:t>Only North</a:t>
            </a:r>
            <a:endParaRPr lang="en-US" sz="2200" dirty="0"/>
          </a:p>
        </p:txBody>
      </p:sp>
      <p:sp>
        <p:nvSpPr>
          <p:cNvPr id="5" name="Choice B"/>
          <p:cNvSpPr txBox="1"/>
          <p:nvPr/>
        </p:nvSpPr>
        <p:spPr>
          <a:xfrm>
            <a:off x="6233008" y="220599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B   </a:t>
            </a:r>
            <a:pPr indent="0" marL="0">
              <a:buNone/>
            </a:pPr>
            <a:r>
              <a:rPr lang="en-US" sz="2200" dirty="0">
                <a:solidFill>
                  <a:srgbClr val="1F2328"/>
                </a:solidFill>
                <a:latin typeface="Calibri" pitchFamily="34" charset="0"/>
                <a:ea typeface="Calibri" pitchFamily="34" charset="-122"/>
                <a:cs typeface="Calibri" pitchFamily="34" charset="-120"/>
              </a:rPr>
              <a:t>North and South</a:t>
            </a:r>
            <a:endParaRPr lang="en-US" sz="2200" dirty="0"/>
          </a:p>
        </p:txBody>
      </p:sp>
      <p:sp>
        <p:nvSpPr>
          <p:cNvPr id="6" name="Choice C"/>
          <p:cNvSpPr txBox="1"/>
          <p:nvPr/>
        </p:nvSpPr>
        <p:spPr>
          <a:xfrm>
            <a:off x="548640" y="302895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C   </a:t>
            </a:r>
            <a:pPr indent="0" marL="0">
              <a:buNone/>
            </a:pPr>
            <a:r>
              <a:rPr lang="en-US" sz="2200" dirty="0">
                <a:solidFill>
                  <a:srgbClr val="1F2328"/>
                </a:solidFill>
                <a:latin typeface="Calibri" pitchFamily="34" charset="0"/>
                <a:ea typeface="Calibri" pitchFamily="34" charset="-122"/>
                <a:cs typeface="Calibri" pitchFamily="34" charset="-120"/>
              </a:rPr>
              <a:t>An error</a:t>
            </a:r>
            <a:endParaRPr lang="en-US" sz="2200" dirty="0"/>
          </a:p>
        </p:txBody>
      </p:sp>
      <p:sp>
        <p:nvSpPr>
          <p:cNvPr id="7" name="Choice D"/>
          <p:cNvSpPr txBox="1"/>
          <p:nvPr/>
        </p:nvSpPr>
        <p:spPr>
          <a:xfrm>
            <a:off x="6233008" y="3028950"/>
            <a:ext cx="5410048"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D   </a:t>
            </a:r>
            <a:pPr indent="0" marL="0">
              <a:buNone/>
            </a:pPr>
            <a:r>
              <a:rPr lang="en-US" sz="2200" dirty="0">
                <a:solidFill>
                  <a:srgbClr val="1F2328"/>
                </a:solidFill>
                <a:latin typeface="Calibri" pitchFamily="34" charset="0"/>
                <a:ea typeface="Calibri" pitchFamily="34" charset="-122"/>
                <a:cs typeface="Calibri" pitchFamily="34" charset="-120"/>
              </a:rPr>
              <a:t>Only South</a:t>
            </a:r>
            <a:endParaRPr lang="en-US" sz="2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Combining Series aligns on labels</a:t>
            </a:r>
            <a:endParaRPr lang="en-US" sz="3600" dirty="0"/>
          </a:p>
        </p:txBody>
      </p:sp>
      <p:sp>
        <p:nvSpPr>
          <p:cNvPr id="3" name="Text 1"/>
          <p:cNvSpPr txBox="1"/>
          <p:nvPr/>
        </p:nvSpPr>
        <p:spPr>
          <a:xfrm>
            <a:off x="548640" y="1280160"/>
            <a:ext cx="11094415" cy="1131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q1 = pd.Series({'North': 120, 'South': 95, 'West': 143})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q2 = pd.Series({'North': 130, 'South': 90, 'East': 60})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q1 + q2</a:t>
            </a:r>
            <a:endParaRPr lang="en-US" sz="1800" dirty="0"/>
          </a:p>
        </p:txBody>
      </p:sp>
      <p:sp>
        <p:nvSpPr>
          <p:cNvPr id="4" name="Text 2"/>
          <p:cNvSpPr txBox="1"/>
          <p:nvPr/>
        </p:nvSpPr>
        <p:spPr>
          <a:xfrm>
            <a:off x="548640" y="2594610"/>
            <a:ext cx="11094415" cy="1703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East       NaN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North    250.0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South    185.0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West       NaN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float64</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Fill the gaps on purpose</a:t>
            </a:r>
            <a:endParaRPr lang="en-US" sz="3600" dirty="0"/>
          </a:p>
        </p:txBody>
      </p:sp>
      <p:sp>
        <p:nvSpPr>
          <p:cNvPr id="3" name="Text 1"/>
          <p:cNvSpPr txBox="1"/>
          <p:nvPr/>
        </p:nvSpPr>
        <p:spPr>
          <a:xfrm>
            <a:off x="548640" y="1280160"/>
            <a:ext cx="11094415" cy="560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q1.add(q2, fill_value=0)</a:t>
            </a:r>
            <a:endParaRPr lang="en-US" sz="1800" dirty="0"/>
          </a:p>
        </p:txBody>
      </p:sp>
      <p:sp>
        <p:nvSpPr>
          <p:cNvPr id="4" name="Text 2"/>
          <p:cNvSpPr txBox="1"/>
          <p:nvPr/>
        </p:nvSpPr>
        <p:spPr>
          <a:xfrm>
            <a:off x="548640" y="2023110"/>
            <a:ext cx="11094415" cy="1703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East      60.0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North    250.0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South    185.0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West     143.0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dtype: float64</a:t>
            </a:r>
            <a:endParaRPr lang="en-US" sz="1800" dirty="0"/>
          </a:p>
        </p:txBody>
      </p:sp>
      <p:sp>
        <p:nvSpPr>
          <p:cNvPr id="5" name="Text 3"/>
          <p:cNvSpPr txBox="1"/>
          <p:nvPr/>
        </p:nvSpPr>
        <p:spPr>
          <a:xfrm>
            <a:off x="548640" y="390906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Treating missing as zero is a </a:t>
            </a:r>
            <a:pPr indent="0" marL="0">
              <a:buNone/>
            </a:pPr>
            <a:r>
              <a:rPr lang="en-US" sz="2400" b="1" dirty="0">
                <a:solidFill>
                  <a:srgbClr val="1F2328"/>
                </a:solidFill>
                <a:latin typeface="Calibri" pitchFamily="34" charset="0"/>
                <a:ea typeface="Calibri" pitchFamily="34" charset="-122"/>
                <a:cs typeface="Calibri" pitchFamily="34" charset="-120"/>
              </a:rPr>
              <a:t>business decision</a:t>
            </a:r>
            <a:pPr indent="0" marL="0">
              <a:buNone/>
            </a:pPr>
            <a:r>
              <a:rPr lang="en-US" sz="2400" dirty="0">
                <a:solidFill>
                  <a:srgbClr val="1F2328"/>
                </a:solidFill>
                <a:latin typeface="Calibri" pitchFamily="34" charset="0"/>
                <a:ea typeface="Calibri" pitchFamily="34" charset="-122"/>
                <a:cs typeface="Calibri" pitchFamily="34" charset="-120"/>
              </a:rPr>
              <a:t>, not a coding default.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City temperatures</a:t>
            </a:r>
            <a:endParaRPr lang="en-US" sz="3600" dirty="0"/>
          </a:p>
        </p:txBody>
      </p:sp>
      <p:sp>
        <p:nvSpPr>
          <p:cNvPr id="3" name="Text 1"/>
          <p:cNvSpPr txBox="1"/>
          <p:nvPr/>
        </p:nvSpPr>
        <p:spPr>
          <a:xfrm>
            <a:off x="548640" y="1280160"/>
            <a:ext cx="11094415" cy="845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temps = pd.Series([72, 85, 68, 91, 77],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index=['NYC', 'Miami', 'Seattle', 'Phoenix', 'Denver'])</a:t>
            </a:r>
            <a:endParaRPr lang="en-US" sz="1800" dirty="0"/>
          </a:p>
        </p:txBody>
      </p:sp>
      <p:sp>
        <p:nvSpPr>
          <p:cNvPr id="4" name="Text 2"/>
          <p:cNvSpPr txBox="1"/>
          <p:nvPr/>
        </p:nvSpPr>
        <p:spPr>
          <a:xfrm>
            <a:off x="548640" y="2308860"/>
            <a:ext cx="11094415" cy="1453896"/>
          </a:xfrm>
          <a:prstGeom prst="rect">
            <a:avLst/>
          </a:prstGeom>
          <a:noFill/>
          <a:ln/>
        </p:spPr>
        <p:txBody>
          <a:bodyPr wrap="square" lIns="0" tIns="0" rIns="0" bIns="0" rtlCol="0" anchor="t"/>
          <a:lstStyle/>
          <a:p>
            <a:pPr marL="342900" indent="-342900">
              <a:buSzPct val="100000"/>
              <a:buFont typeface="+mj-lt"/>
              <a:buAutoNum type="arabicPeriod" startAt="1"/>
            </a:pPr>
            <a:r>
              <a:rPr lang="en-US" sz="2400" dirty="0">
                <a:solidFill>
                  <a:srgbClr val="1F2328"/>
                </a:solidFill>
                <a:latin typeface="Calibri" pitchFamily="34" charset="0"/>
                <a:ea typeface="Calibri" pitchFamily="34" charset="-122"/>
                <a:cs typeface="Calibri" pitchFamily="34" charset="-120"/>
              </a:rPr>
              <a:t>Get Miami's temperature with </a:t>
            </a:r>
            <a:pPr indent="0" marL="0">
              <a:spcAft>
                <a:spcPts val="800"/>
              </a:spcAft>
              <a:buNone/>
            </a:pPr>
            <a:r>
              <a:rPr lang="en-US" sz="2400" dirty="0">
                <a:solidFill>
                  <a:srgbClr val="8A1C3C"/>
                </a:solidFill>
                <a:latin typeface="Consolas" pitchFamily="34" charset="0"/>
                <a:ea typeface="Consolas" pitchFamily="34" charset="-122"/>
                <a:cs typeface="Consolas" pitchFamily="34" charset="-120"/>
              </a:rPr>
              <a:t>.loc</a:t>
            </a:r>
            <a:endParaRPr lang="en-US" sz="2400" dirty="0"/>
          </a:p>
          <a:p>
            <a:pPr marL="342900" indent="-342900">
              <a:buSzPct val="100000"/>
              <a:buFont typeface="+mj-lt"/>
              <a:buAutoNum type="arabicPeriod" startAt="1"/>
            </a:pPr>
            <a:r>
              <a:rPr lang="en-US" sz="2400" dirty="0">
                <a:solidFill>
                  <a:srgbClr val="1F2328"/>
                </a:solidFill>
                <a:latin typeface="Calibri" pitchFamily="34" charset="0"/>
                <a:ea typeface="Calibri" pitchFamily="34" charset="-122"/>
                <a:cs typeface="Calibri" pitchFamily="34" charset="-120"/>
              </a:rPr>
              <a:t>Get the first and last values with </a:t>
            </a:r>
            <a:pPr indent="0" marL="0">
              <a:spcAft>
                <a:spcPts val="800"/>
              </a:spcAft>
              <a:buNone/>
            </a:pPr>
            <a:r>
              <a:rPr lang="en-US" sz="2400" dirty="0">
                <a:solidFill>
                  <a:srgbClr val="8A1C3C"/>
                </a:solidFill>
                <a:latin typeface="Consolas" pitchFamily="34" charset="0"/>
                <a:ea typeface="Consolas" pitchFamily="34" charset="-122"/>
                <a:cs typeface="Consolas" pitchFamily="34" charset="-120"/>
              </a:rPr>
              <a:t>.iloc</a:t>
            </a:r>
            <a:endParaRPr lang="en-US" sz="2400" dirty="0"/>
          </a:p>
          <a:p>
            <a:pPr marL="342900" indent="-342900">
              <a:spcAft>
                <a:spcPts val="800"/>
              </a:spcAft>
              <a:buSzPct val="100000"/>
              <a:buFont typeface="+mj-lt"/>
              <a:buAutoNum type="arabicPeriod" startAt="1"/>
            </a:pPr>
            <a:r>
              <a:rPr lang="en-US" sz="2400" dirty="0">
                <a:solidFill>
                  <a:srgbClr val="1F2328"/>
                </a:solidFill>
                <a:latin typeface="Calibri" pitchFamily="34" charset="0"/>
                <a:ea typeface="Calibri" pitchFamily="34" charset="-122"/>
                <a:cs typeface="Calibri" pitchFamily="34" charset="-120"/>
              </a:rPr>
              <a:t>List the cities above 75 degrees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2743200"/>
          </a:xfrm>
          <a:prstGeom prst="rect">
            <a:avLst/>
          </a:prstGeom>
          <a:noFill/>
          <a:ln/>
        </p:spPr>
        <p:txBody>
          <a:bodyPr wrap="square" lIns="0" tIns="0" rIns="0" bIns="0" rtlCol="0" anchor="t"/>
          <a:lstStyle/>
          <a:p>
            <a:pPr marL="254000" indent="-254000">
              <a:buSzPct val="100000"/>
              <a:buChar char="•"/>
            </a:pPr>
            <a:r>
              <a:rPr lang="en-US" sz="2400" dirty="0">
                <a:solidFill>
                  <a:srgbClr val="FFFFFF"/>
                </a:solidFill>
                <a:latin typeface="Calibri" pitchFamily="34" charset="0"/>
                <a:ea typeface="Calibri" pitchFamily="34" charset="-122"/>
                <a:cs typeface="Calibri" pitchFamily="34" charset="-120"/>
              </a:rPr>
              <a:t>A Series is </a:t>
            </a:r>
            <a:pPr indent="0" marL="0">
              <a:buNone/>
            </a:pPr>
            <a:r>
              <a:rPr lang="en-US" sz="2400" b="1" dirty="0">
                <a:solidFill>
                  <a:srgbClr val="FFFFFF"/>
                </a:solidFill>
                <a:latin typeface="Calibri" pitchFamily="34" charset="0"/>
                <a:ea typeface="Calibri" pitchFamily="34" charset="-122"/>
                <a:cs typeface="Calibri" pitchFamily="34" charset="-120"/>
              </a:rPr>
              <a:t>values plus an index</a:t>
            </a:r>
            <a:pPr indent="0" marL="0">
              <a:buNone/>
            </a:pPr>
            <a:r>
              <a:rPr lang="en-US" sz="2400" dirty="0">
                <a:solidFill>
                  <a:srgbClr val="FFFFFF"/>
                </a:solidFill>
                <a:latin typeface="Calibri" pitchFamily="34" charset="0"/>
                <a:ea typeface="Calibri" pitchFamily="34" charset="-122"/>
                <a:cs typeface="Calibri" pitchFamily="34" charset="-120"/>
              </a:rPr>
              <a:t>, with one </a:t>
            </a:r>
            <a:pPr indent="0" marL="0">
              <a:buNone/>
            </a:pPr>
            <a:r>
              <a:rPr lang="en-US" sz="2400" b="1" dirty="0">
                <a:solidFill>
                  <a:srgbClr val="FFFFFF"/>
                </a:solidFill>
                <a:latin typeface="Calibri" pitchFamily="34" charset="0"/>
                <a:ea typeface="Calibri" pitchFamily="34" charset="-122"/>
                <a:cs typeface="Calibri" pitchFamily="34" charset="-120"/>
              </a:rPr>
              <a:t>dtype</a:t>
            </a:r>
            <a:pPr indent="0" marL="0">
              <a:spcAft>
                <a:spcPts val="800"/>
              </a:spcAft>
              <a:buNone/>
            </a:pPr>
            <a:endParaRPr lang="en-US" sz="2400" dirty="0"/>
          </a:p>
          <a:p>
            <a:pPr marL="254000" indent="-254000">
              <a:buSzPct val="100000"/>
              <a:buChar char="•"/>
            </a:pPr>
            <a:r>
              <a:rPr lang="en-US" sz="2400" dirty="0">
                <a:solidFill>
                  <a:srgbClr val="FFFFFF"/>
                </a:solidFill>
                <a:latin typeface="Calibri" pitchFamily="34" charset="0"/>
                <a:ea typeface="Calibri" pitchFamily="34" charset="-122"/>
                <a:cs typeface="Calibri" pitchFamily="34" charset="-120"/>
              </a:rPr>
              <a:t>Build it from a </a:t>
            </a:r>
            <a:pPr indent="0" marL="0">
              <a:buNone/>
            </a:pPr>
            <a:r>
              <a:rPr lang="en-US" sz="2400" b="1" dirty="0">
                <a:solidFill>
                  <a:srgbClr val="FFFFFF"/>
                </a:solidFill>
                <a:latin typeface="Calibri" pitchFamily="34" charset="0"/>
                <a:ea typeface="Calibri" pitchFamily="34" charset="-122"/>
                <a:cs typeface="Calibri" pitchFamily="34" charset="-120"/>
              </a:rPr>
              <a:t>list</a:t>
            </a:r>
            <a:pPr indent="0" marL="0">
              <a:buNone/>
            </a:pPr>
            <a:r>
              <a:rPr lang="en-US" sz="2400" dirty="0">
                <a:solidFill>
                  <a:srgbClr val="FFFFFF"/>
                </a:solidFill>
                <a:latin typeface="Calibri" pitchFamily="34" charset="0"/>
                <a:ea typeface="Calibri" pitchFamily="34" charset="-122"/>
                <a:cs typeface="Calibri" pitchFamily="34" charset="-120"/>
              </a:rPr>
              <a:t> with </a:t>
            </a:r>
            <a:pPr indent="0" marL="0">
              <a:buNone/>
            </a:pPr>
            <a:r>
              <a:rPr lang="en-US" sz="2400" dirty="0">
                <a:solidFill>
                  <a:srgbClr val="8A1C3C"/>
                </a:solidFill>
                <a:latin typeface="Consolas" pitchFamily="34" charset="0"/>
                <a:ea typeface="Consolas" pitchFamily="34" charset="-122"/>
                <a:cs typeface="Consolas" pitchFamily="34" charset="-120"/>
              </a:rPr>
              <a:t>index=</a:t>
            </a:r>
            <a:pPr indent="0" marL="0">
              <a:buNone/>
            </a:pPr>
            <a:r>
              <a:rPr lang="en-US" sz="2400" dirty="0">
                <a:solidFill>
                  <a:srgbClr val="FFFFFF"/>
                </a:solidFill>
                <a:latin typeface="Calibri" pitchFamily="34" charset="0"/>
                <a:ea typeface="Calibri" pitchFamily="34" charset="-122"/>
                <a:cs typeface="Calibri" pitchFamily="34" charset="-120"/>
              </a:rPr>
              <a:t> or from a </a:t>
            </a:r>
            <a:pPr indent="0" marL="0">
              <a:buNone/>
            </a:pPr>
            <a:r>
              <a:rPr lang="en-US" sz="2400" b="1" dirty="0">
                <a:solidFill>
                  <a:srgbClr val="FFFFFF"/>
                </a:solidFill>
                <a:latin typeface="Calibri" pitchFamily="34" charset="0"/>
                <a:ea typeface="Calibri" pitchFamily="34" charset="-122"/>
                <a:cs typeface="Calibri" pitchFamily="34" charset="-120"/>
              </a:rPr>
              <a:t>dictionary</a:t>
            </a:r>
            <a:pPr indent="0" marL="0">
              <a:spcAft>
                <a:spcPts val="800"/>
              </a:spcAft>
              <a:buNone/>
            </a:pPr>
            <a:endParaRPr lang="en-US" sz="2400" dirty="0"/>
          </a:p>
          <a:p>
            <a:pPr marL="254000" indent="-254000">
              <a:buSzPct val="100000"/>
              <a:buChar char="•"/>
            </a:pPr>
            <a:pPr indent="0" marL="0">
              <a:buNone/>
            </a:pPr>
            <a:r>
              <a:rPr lang="en-US" sz="2400" b="1" dirty="0">
                <a:solidFill>
                  <a:srgbClr val="8A1C3C"/>
                </a:solidFill>
                <a:latin typeface="Consolas" pitchFamily="34" charset="0"/>
                <a:ea typeface="Consolas" pitchFamily="34" charset="-122"/>
                <a:cs typeface="Consolas" pitchFamily="34" charset="-120"/>
              </a:rPr>
              <a:t>.loc</a:t>
            </a:r>
            <a:pPr indent="0" marL="0">
              <a:buNone/>
            </a:pPr>
            <a:r>
              <a:rPr lang="en-US" sz="2400" dirty="0">
                <a:solidFill>
                  <a:srgbClr val="FFFFFF"/>
                </a:solidFill>
                <a:latin typeface="Calibri" pitchFamily="34" charset="0"/>
                <a:ea typeface="Calibri" pitchFamily="34" charset="-122"/>
                <a:cs typeface="Calibri" pitchFamily="34" charset="-120"/>
              </a:rPr>
              <a:t> uses labels and includes the end; </a:t>
            </a:r>
            <a:pPr indent="0" marL="0">
              <a:buNone/>
            </a:pPr>
            <a:r>
              <a:rPr lang="en-US" sz="2400" b="1" dirty="0">
                <a:solidFill>
                  <a:srgbClr val="8A1C3C"/>
                </a:solidFill>
                <a:latin typeface="Consolas" pitchFamily="34" charset="0"/>
                <a:ea typeface="Consolas" pitchFamily="34" charset="-122"/>
                <a:cs typeface="Consolas" pitchFamily="34" charset="-120"/>
              </a:rPr>
              <a:t>.iloc</a:t>
            </a:r>
            <a:pPr indent="0" marL="0">
              <a:spcAft>
                <a:spcPts val="800"/>
              </a:spcAft>
              <a:buNone/>
            </a:pPr>
            <a:r>
              <a:rPr lang="en-US" sz="2400" dirty="0">
                <a:solidFill>
                  <a:srgbClr val="FFFFFF"/>
                </a:solidFill>
                <a:latin typeface="Calibri" pitchFamily="34" charset="0"/>
                <a:ea typeface="Calibri" pitchFamily="34" charset="-122"/>
                <a:cs typeface="Calibri" pitchFamily="34" charset="-120"/>
              </a:rPr>
              <a:t> uses positions and excludes it</a:t>
            </a:r>
            <a:endParaRPr lang="en-US" sz="2400" dirty="0"/>
          </a:p>
          <a:p>
            <a:pPr marL="254000" indent="-254000">
              <a:buSzPct val="100000"/>
              <a:buChar char="•"/>
            </a:pPr>
            <a:pPr indent="0" marL="0">
              <a:buNone/>
            </a:pPr>
            <a:r>
              <a:rPr lang="en-US" sz="2400" b="1" dirty="0">
                <a:solidFill>
                  <a:srgbClr val="FFFFFF"/>
                </a:solidFill>
                <a:latin typeface="Calibri" pitchFamily="34" charset="0"/>
                <a:ea typeface="Calibri" pitchFamily="34" charset="-122"/>
                <a:cs typeface="Calibri" pitchFamily="34" charset="-120"/>
              </a:rPr>
              <a:t>Conditions</a:t>
            </a:r>
            <a:pPr indent="0" marL="0">
              <a:buNone/>
            </a:pPr>
            <a:r>
              <a:rPr lang="en-US" sz="2400" dirty="0">
                <a:solidFill>
                  <a:srgbClr val="FFFFFF"/>
                </a:solidFill>
                <a:latin typeface="Calibri" pitchFamily="34" charset="0"/>
                <a:ea typeface="Calibri" pitchFamily="34" charset="-122"/>
                <a:cs typeface="Calibri" pitchFamily="34" charset="-120"/>
              </a:rPr>
              <a:t> filter rows: </a:t>
            </a:r>
            <a:pPr indent="0" marL="0">
              <a:spcAft>
                <a:spcPts val="800"/>
              </a:spcAft>
              <a:buNone/>
            </a:pPr>
            <a:r>
              <a:rPr lang="en-US" sz="2400" dirty="0">
                <a:solidFill>
                  <a:srgbClr val="8A1C3C"/>
                </a:solidFill>
                <a:latin typeface="Consolas" pitchFamily="34" charset="0"/>
                <a:ea typeface="Consolas" pitchFamily="34" charset="-122"/>
                <a:cs typeface="Consolas" pitchFamily="34" charset="-120"/>
              </a:rPr>
              <a:t>sales[sales &gt; 100]</a:t>
            </a:r>
            <a:endParaRPr lang="en-US" sz="2400" dirty="0"/>
          </a:p>
          <a:p>
            <a:pPr marL="254000" indent="-254000">
              <a:buSzPct val="100000"/>
              <a:buChar char="•"/>
            </a:pPr>
            <a:r>
              <a:rPr lang="en-US" sz="2400" dirty="0">
                <a:solidFill>
                  <a:srgbClr val="FFFFFF"/>
                </a:solidFill>
                <a:latin typeface="Calibri" pitchFamily="34" charset="0"/>
                <a:ea typeface="Calibri" pitchFamily="34" charset="-122"/>
                <a:cs typeface="Calibri" pitchFamily="34" charset="-120"/>
              </a:rPr>
              <a:t>Math </a:t>
            </a:r>
            <a:pPr indent="0" marL="0">
              <a:buNone/>
            </a:pPr>
            <a:r>
              <a:rPr lang="en-US" sz="2400" b="1" dirty="0">
                <a:solidFill>
                  <a:srgbClr val="FFFFFF"/>
                </a:solidFill>
                <a:latin typeface="Calibri" pitchFamily="34" charset="0"/>
                <a:ea typeface="Calibri" pitchFamily="34" charset="-122"/>
                <a:cs typeface="Calibri" pitchFamily="34" charset="-120"/>
              </a:rPr>
              <a:t>aligns on labels</a:t>
            </a:r>
            <a:pPr indent="0" marL="0">
              <a:buNone/>
            </a:pPr>
            <a:r>
              <a:rPr lang="en-US" sz="2400" dirty="0">
                <a:solidFill>
                  <a:srgbClr val="FFFFFF"/>
                </a:solidFill>
                <a:latin typeface="Calibri" pitchFamily="34" charset="0"/>
                <a:ea typeface="Calibri" pitchFamily="34" charset="-122"/>
                <a:cs typeface="Calibri" pitchFamily="34" charset="-120"/>
              </a:rPr>
              <a:t>; missing matches become </a:t>
            </a:r>
            <a:pPr indent="0" marL="0">
              <a:buNone/>
            </a:pPr>
            <a:r>
              <a:rPr lang="en-US" sz="2400" b="1" dirty="0">
                <a:solidFill>
                  <a:srgbClr val="FFFFFF"/>
                </a:solidFill>
                <a:latin typeface="Calibri" pitchFamily="34" charset="0"/>
                <a:ea typeface="Calibri" pitchFamily="34" charset="-122"/>
                <a:cs typeface="Calibri" pitchFamily="34" charset="-120"/>
              </a:rPr>
              <a:t>NaN</a:t>
            </a:r>
            <a:pPr indent="0" marL="0">
              <a:spcAft>
                <a:spcPts val="800"/>
              </a:spcAft>
              <a:buNone/>
            </a:pP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 Pandas Series</dc:title>
  <dc:subject>PptxGenJS Presentation</dc:subject>
  <dc:creator>ThinkPress</dc:creator>
  <cp:lastModifiedBy>ThinkPress</cp:lastModifiedBy>
  <cp:revision>1</cp:revision>
  <dcterms:created xsi:type="dcterms:W3CDTF">2026-10-05T08:18:56Z</dcterms:created>
  <dcterms:modified xsi:type="dcterms:W3CDTF">2026-10-05T08:18:56Z</dcterms:modified>
</cp:coreProperties>
</file>